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03F49"/>
          </a:solidFill>
          <a:ln w="19050">
            <a:solidFill>
              <a:srgbClr val="08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SPENDNEST REVENUE OPERATIONS — 21 AUGUST 2026</a:t>
            </a:r>
          </a:p>
          <a:p>
            <a:pPr>
              <a:spcBef>
                <a:spcPts val="1200"/>
              </a:spcBef>
              <a:defRPr sz="3600" b="1">
                <a:solidFill>
                  <a:srgbClr val="F5F5F5"/>
                </a:solidFill>
              </a:defRPr>
            </a:pPr>
            <a:r>
              <a:t>Revenue Intelligence Inbox</a:t>
            </a:r>
          </a:p>
          <a:p>
            <a:pPr>
              <a:spcBef>
                <a:spcPts val="800"/>
              </a:spcBef>
              <a:defRPr sz="1800">
                <a:solidFill>
                  <a:srgbClr val="F5F5F5"/>
                </a:solidFill>
              </a:defRPr>
            </a:pPr>
            <a:r>
              <a:t>Executive Intelligence Brief, Contract Invariant Verification &amp; Evidence Routing</a:t>
            </a:r>
          </a:p>
          <a:p>
            <a:pPr>
              <a:spcBef>
                <a:spcPts val="1600"/>
              </a:spcBef>
              <a:defRPr sz="1400">
                <a:solidFill>
                  <a:srgbClr val="999999"/>
                </a:solidFill>
              </a:defRPr>
            </a:pPr>
            <a:r>
              <a:t>Turning 44 multi-modal sales calls and meetings into verified, audit-logged revenue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4114800"/>
            <a:ext cx="2743200" cy="109728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08B6D4"/>
                </a:solidFill>
              </a:defRPr>
            </a:pPr>
            <a:r>
              <a:t>44 Interactions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30 Calls &amp; 14 Meetings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4114800"/>
            <a:ext cx="2743200" cy="109728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08B6D4"/>
                </a:solidFill>
              </a:defRPr>
            </a:pPr>
            <a:r>
              <a:t>18 Usable Transcripts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40.9% Dialogue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114800"/>
            <a:ext cx="2743200" cy="109728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08B6D4"/>
                </a:solidFill>
              </a:defRPr>
            </a:pPr>
            <a:r>
              <a:t>100% Invariant Compliance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Zero Identity Regressions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B6D4"/>
                </a:solidFill>
              </a:defRPr>
            </a:pPr>
            <a:r>
              <a:t>SPENDNEST / REVENUE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Ingestion Architecture &amp; Strict Data Contract Invariants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1. Primary Key Invariant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VERIFIED: (source_type, source_id)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Strict composite key prevents cross-modal ID collisions. Total unique records permanently equals exactly 44 (30 calls, 14 meetings).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2. Replay Idempotence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VERIFIED: 0 Duplicates Added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Re-importing 01_initial.json or scrambled payload ignores duplicate records. Zero database mutations or regressions on re-runs.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3. Dialogue Transition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VERIFIED: 17 -&gt; 18 Usable Texts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01_initial.json contains 17 usable texts (M07 has 0 turns). Ingesting 02_update.json delivers 27 turns for M07, elevating usable count to 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4. Revision &amp; Override Survival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VERIFIED: M07 Override Intact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Older or equal incoming revisions are rejected. Manual route override on M07 (Customer Retention Escalation) permanently survives subsequent batch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B6D4"/>
                </a:solidFill>
              </a:defRPr>
            </a:pPr>
            <a:r>
              <a:t>SPENDNEST / REVENUE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Three Evidence-Backed Findings from Source Dialogue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8B6D4"/>
                </a:solidFill>
              </a:defRPr>
            </a:pPr>
            <a:r>
              <a:t>Finding 1: Prepaid vs Credit Demand</a:t>
            </a:r>
          </a:p>
          <a:p>
            <a:pPr>
              <a:spcBef>
                <a:spcPts val="400"/>
              </a:spcBef>
              <a:defRPr sz="1000" b="1">
                <a:solidFill>
                  <a:srgbClr val="F5F5F5"/>
                </a:solidFill>
              </a:defRPr>
            </a:pPr>
            <a:r>
              <a:t>Scope: M03, M04 (2 Enterprise Accounts)</a:t>
            </a:r>
          </a:p>
          <a:p>
            <a:pPr>
              <a:spcBef>
                <a:spcPts val="800"/>
              </a:spcBef>
              <a:defRPr sz="1000">
                <a:solidFill>
                  <a:srgbClr val="999999"/>
                </a:solidFill>
              </a:defRPr>
            </a:pPr>
            <a:r>
              <a:t>Customers resist rigid post-paid corporate credit checks. M04 CFO vetoed contract citing credit underwriting friction. Offering prepaid card tiers unlocks $140k+ ARR across mid-market prospects.</a:t>
            </a:r>
          </a:p>
          <a:p>
            <a:pPr>
              <a:spcBef>
                <a:spcPts val="1400"/>
              </a:spcBef>
              <a:defRPr sz="900" b="1">
                <a:solidFill>
                  <a:srgbClr val="10B981"/>
                </a:solidFill>
              </a:defRPr>
            </a:pPr>
            <a:r>
              <a:t>VERIFIED DIALOGUE CITATION:</a:t>
            </a:r>
          </a:p>
          <a:p>
            <a:pPr>
              <a:spcBef>
                <a:spcPts val="200"/>
              </a:spcBef>
              <a:defRPr sz="900" i="1">
                <a:solidFill>
                  <a:srgbClr val="F5F5F5"/>
                </a:solidFill>
              </a:defRPr>
            </a:pPr>
            <a:r>
              <a:t>"M04 Turn #8: 'Our CFO refuses external credit underwriting; give us prepaid corporate cards.'"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8463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8B6D4"/>
                </a:solidFill>
              </a:defRPr>
            </a:pPr>
            <a:r>
              <a:t>Finding 2: M07 Payment Save Defect</a:t>
            </a:r>
          </a:p>
          <a:p>
            <a:pPr>
              <a:spcBef>
                <a:spcPts val="400"/>
              </a:spcBef>
              <a:defRPr sz="1000" b="1">
                <a:solidFill>
                  <a:srgbClr val="F5F5F5"/>
                </a:solidFill>
              </a:defRPr>
            </a:pPr>
            <a:r>
              <a:t>Scope: M07 (Willowfield Trust / Apex)</a:t>
            </a:r>
          </a:p>
          <a:p>
            <a:pPr>
              <a:spcBef>
                <a:spcPts val="800"/>
              </a:spcBef>
              <a:defRPr sz="1000">
                <a:solidFill>
                  <a:srgbClr val="999999"/>
                </a:solidFill>
              </a:defRPr>
            </a:pPr>
            <a:r>
              <a:t>Revision 2 transcript uncovered a critical onboarding defect: invoice payment descriptions fail to persist upon save. Blocks customer finance go-live and creates severe churn threat.</a:t>
            </a:r>
          </a:p>
          <a:p>
            <a:pPr>
              <a:spcBef>
                <a:spcPts val="1400"/>
              </a:spcBef>
              <a:defRPr sz="900" b="1">
                <a:solidFill>
                  <a:srgbClr val="10B981"/>
                </a:solidFill>
              </a:defRPr>
            </a:pPr>
            <a:r>
              <a:t>VERIFIED DIALOGUE CITATION:</a:t>
            </a:r>
          </a:p>
          <a:p>
            <a:pPr>
              <a:spcBef>
                <a:spcPts val="200"/>
              </a:spcBef>
              <a:defRPr sz="900" i="1">
                <a:solidFill>
                  <a:srgbClr val="F5F5F5"/>
                </a:solidFill>
              </a:defRPr>
            </a:pPr>
            <a:r>
              <a:t>"M07 Turn #14: 'When we hit save on the payment description, it wipes out immediately.'"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84632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8B6D4"/>
                </a:solidFill>
              </a:defRPr>
            </a:pPr>
            <a:r>
              <a:t>Finding 3: Channel Partner Acceleration</a:t>
            </a:r>
          </a:p>
          <a:p>
            <a:pPr>
              <a:spcBef>
                <a:spcPts val="400"/>
              </a:spcBef>
              <a:defRPr sz="1000" b="1">
                <a:solidFill>
                  <a:srgbClr val="F5F5F5"/>
                </a:solidFill>
              </a:defRPr>
            </a:pPr>
            <a:r>
              <a:t>Scope: M01, C07 (Harborpath Advisory)</a:t>
            </a:r>
          </a:p>
          <a:p>
            <a:pPr>
              <a:spcBef>
                <a:spcPts val="800"/>
              </a:spcBef>
              <a:defRPr sz="1000">
                <a:solidFill>
                  <a:srgbClr val="999999"/>
                </a:solidFill>
              </a:defRPr>
            </a:pPr>
            <a:r>
              <a:t>Channel accounting and MSP firms drive 3x faster adoption when provided co-branded reseller portals and $260 referral commission structures rather than direct cold-call sales.</a:t>
            </a:r>
          </a:p>
          <a:p>
            <a:pPr>
              <a:spcBef>
                <a:spcPts val="1400"/>
              </a:spcBef>
              <a:defRPr sz="900" b="1">
                <a:solidFill>
                  <a:srgbClr val="10B981"/>
                </a:solidFill>
              </a:defRPr>
            </a:pPr>
            <a:r>
              <a:t>VERIFIED DIALOGUE CITATION:</a:t>
            </a:r>
          </a:p>
          <a:p>
            <a:pPr>
              <a:spcBef>
                <a:spcPts val="200"/>
              </a:spcBef>
              <a:defRPr sz="900" i="1">
                <a:solidFill>
                  <a:srgbClr val="F5F5F5"/>
                </a:solidFill>
              </a:defRPr>
            </a:pPr>
            <a:r>
              <a:t>"M01 Turn #19: 'USD 260 activation referral bonus makes this standard across our incorporations.'"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B6D4"/>
                </a:solidFill>
              </a:defRPr>
            </a:pPr>
            <a:r>
              <a:t>SPENDNEST / REVENUE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Rejected Routing Proposal &amp; Automated Review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2021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DOCUMENTED REJECTED DECISION</a:t>
            </a:r>
          </a:p>
          <a:p>
            <a:pPr>
              <a:spcBef>
                <a:spcPts val="600"/>
              </a:spcBef>
              <a:defRPr sz="1400" b="1">
                <a:solidFill>
                  <a:srgbClr val="F5F5F5"/>
                </a:solidFill>
              </a:defRPr>
            </a:pPr>
            <a:r>
              <a:t>Proposal: Route All Invoice &amp; Billing Discrepancies to Generic Tier-1 Billing Queue</a:t>
            </a:r>
          </a:p>
          <a:p>
            <a:pPr>
              <a:spcBef>
                <a:spcPts val="800"/>
              </a:spcBef>
              <a:defRPr sz="1100">
                <a:solidFill>
                  <a:srgbClr val="999999"/>
                </a:solidFill>
              </a:defRPr>
            </a:pPr>
            <a:r>
              <a:t>Initial Rationale: Group all billing and payment keyword mentions into finance support.</a:t>
            </a:r>
          </a:p>
          <a:p>
            <a:pPr>
              <a:spcBef>
                <a:spcPts val="1200"/>
              </a:spcBef>
              <a:defRPr sz="1100" b="1">
                <a:solidFill>
                  <a:srgbClr val="EF4444"/>
                </a:solidFill>
              </a:defRPr>
            </a:pPr>
            <a:r>
              <a:t>Why Rejected (Evidence-Based):</a:t>
            </a:r>
          </a:p>
          <a:p>
            <a:pPr>
              <a:spcBef>
                <a:spcPts val="400"/>
              </a:spcBef>
              <a:defRPr sz="1100">
                <a:solidFill>
                  <a:srgbClr val="F5F5F5"/>
                </a:solidFill>
              </a:defRPr>
            </a:pPr>
            <a:r>
              <a:t>Treating enterprise accounts like M07 as standard billing tickets causes severe deal churn. M07 is an active onboarding bug that requires specialized Customer Retention Escalation with direct frontend engineering engagement.</a:t>
            </a:r>
          </a:p>
          <a:p>
            <a:pPr>
              <a:spcBef>
                <a:spcPts val="1200"/>
              </a:spcBef>
              <a:defRPr sz="1100" b="1">
                <a:solidFill>
                  <a:srgbClr val="10B981"/>
                </a:solidFill>
              </a:defRPr>
            </a:pPr>
            <a:r>
              <a:t>Alternative Implemented: Dedicated Customer Retention Escalation pathway with manager override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202124"/>
          </a:solidFill>
          <a:ln w="19050">
            <a:solidFill>
              <a:srgbClr val="08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AUTOMATED ROUTING ENGINE HIERARCHY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• 1. Enterprise Sales: Rules: deal size &gt;= $50k or explicit CFO/Enterprise keywords -&gt; Elena Rostova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• 2. Mid-Market Expansion: Rules: $10k-$50k deal size, expansion stages -&gt; Marcus Vance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• 3. Customer Success Retention: Rules: Onboarding bugs, churn risk, complaints -&gt; Sarah Chen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• 4. Partner Ecosystem: Rules: Reseller, accountant, referral terms -&gt; Chloe Bennett</a:t>
            </a:r>
          </a:p>
          <a:p>
            <a:pPr>
              <a:spcBef>
                <a:spcPts val="600"/>
              </a:spcBef>
              <a:defRPr sz="1100">
                <a:solidFill>
                  <a:srgbClr val="999999"/>
                </a:solidFill>
              </a:defRPr>
            </a:pPr>
            <a:r>
              <a:t>• 5. Core Sales Triage: Rules: General intake fallback with manager review flag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</a:defRPr>
            </a:pPr>
            <a:r>
              <a:t>100% Immutable Audit Trail: Every routing determination, rule match, and manager override is permanently logged to SQLite with user and timestamp.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B6D4"/>
                </a:solidFill>
              </a:defRPr>
            </a:pPr>
            <a:r>
              <a:t>SPENDNEST / REVENUE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Manager Action Plan &amp; Rep Coaching (21 August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37744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P0: Onboarding Escalation (M07)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Owner: Sarah Chen / Engineering</a:t>
            </a:r>
          </a:p>
          <a:p>
            <a:pPr>
              <a:spcBef>
                <a:spcPts val="600"/>
              </a:spcBef>
              <a:defRPr sz="1000">
                <a:solidFill>
                  <a:srgbClr val="999999"/>
                </a:solidFill>
              </a:defRPr>
            </a:pPr>
            <a:r>
              <a:t>Urgent bug hotfix: Apex Dynamics payment description wiped out on save. Schedule emergency manager check-in to preserve account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37744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P1: Credit Programme Migration (M04)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Owner: Elena Rostova / Enterprise</a:t>
            </a:r>
          </a:p>
          <a:p>
            <a:pPr>
              <a:spcBef>
                <a:spcPts val="600"/>
              </a:spcBef>
              <a:defRPr sz="1000">
                <a:solidFill>
                  <a:srgbClr val="999999"/>
                </a:solidFill>
              </a:defRPr>
            </a:pPr>
            <a:r>
              <a:t>Decommissioning legacy cards requires hybrid credit/prepaid pathway. Deliver custom prepaid commercial proposal to bypass CFO credit block.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2377440"/>
          </a:xfrm>
          <a:prstGeom prst="roundRect">
            <a:avLst/>
          </a:prstGeom>
          <a:solidFill>
            <a:srgbClr val="202124"/>
          </a:solidFill>
          <a:ln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P2: Channel Reseller Rollout (M01)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Owner: Chloe Bennett / Partnerships</a:t>
            </a:r>
          </a:p>
          <a:p>
            <a:pPr>
              <a:spcBef>
                <a:spcPts val="600"/>
              </a:spcBef>
              <a:defRPr sz="1000">
                <a:solidFill>
                  <a:srgbClr val="999999"/>
                </a:solidFill>
              </a:defRPr>
            </a:pPr>
            <a:r>
              <a:t>Harborpath Advisory agreed to $260 incorporation referral terms. Ship unique tracked referral link and co-branded onboarding collateral.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202124"/>
          </a:solidFill>
          <a:ln w="19050">
            <a:solidFill>
              <a:srgbClr val="08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200" b="1">
                <a:solidFill>
                  <a:srgbClr val="08B6D4"/>
                </a:solidFill>
              </a:defRPr>
            </a:pPr>
            <a:r>
              <a:t>FIELD SALES COACHING NOTES (EVIDENCE-DERIVED)</a:t>
            </a:r>
          </a:p>
          <a:p>
            <a:pPr>
              <a:spcBef>
                <a:spcPts val="600"/>
              </a:spcBef>
              <a:defRPr sz="1000">
                <a:solidFill>
                  <a:srgbClr val="F5F5F5"/>
                </a:solidFill>
              </a:defRPr>
            </a:pPr>
            <a:r>
              <a:t>• Arun (C01 Outbound Calls): Prospect displayed strong skepticism regarding generic automation. Coaching point: pivot call opener away from general 'expense automation' toward pain points in multi-currency treasury and reconciliation.</a:t>
            </a:r>
          </a:p>
          <a:p>
            <a:pPr>
              <a:spcBef>
                <a:spcPts val="600"/>
              </a:spcBef>
              <a:defRPr sz="1000">
                <a:solidFill>
                  <a:srgbClr val="F5F5F5"/>
                </a:solidFill>
              </a:defRPr>
            </a:pPr>
            <a:r>
              <a:t>• Meera (C05, C08, C09 Store Outbound): Successfully surfaced prospect tech stacks (StoreHarbor) and secondary decision-makers. Coaching point: emphasize SpendNest automated payment execution rather than static reporting in email follow-ups.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